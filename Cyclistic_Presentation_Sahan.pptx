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Ride Volume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Member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527115</c:v>
                </c:pt>
                <c:pt idx="1">
                  <c:v>592396</c:v>
                </c:pt>
                <c:pt idx="2">
                  <c:v>594283</c:v>
                </c:pt>
                <c:pt idx="3">
                  <c:v>601366</c:v>
                </c:pt>
                <c:pt idx="4">
                  <c:v>548561</c:v>
                </c:pt>
                <c:pt idx="5">
                  <c:v>469412</c:v>
                </c:pt>
                <c:pt idx="6">
                  <c:v>414251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 Rider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244717</c:v>
                </c:pt>
                <c:pt idx="1">
                  <c:v>234389</c:v>
                </c:pt>
                <c:pt idx="2">
                  <c:v>236046</c:v>
                </c:pt>
                <c:pt idx="3">
                  <c:v>266553</c:v>
                </c:pt>
                <c:pt idx="4">
                  <c:v>322632</c:v>
                </c:pt>
                <c:pt idx="5">
                  <c:v>431737</c:v>
                </c:pt>
                <c:pt idx="6">
                  <c:v>359373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Rides by Hour of Day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Member</c:v>
                </c:pt>
              </c:strCache>
            </c:strRef>
          </c:tx>
          <c:spPr>
            <a:solidFill>
              <a:srgbClr val="0E7C7B"/>
            </a:solidFill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0h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33954</c:v>
                </c:pt>
                <c:pt idx="1">
                  <c:v>20902</c:v>
                </c:pt>
                <c:pt idx="2">
                  <c:v>12616</c:v>
                </c:pt>
                <c:pt idx="3">
                  <c:v>8219</c:v>
                </c:pt>
                <c:pt idx="4">
                  <c:v>9192</c:v>
                </c:pt>
                <c:pt idx="5">
                  <c:v>36083</c:v>
                </c:pt>
                <c:pt idx="6">
                  <c:v>105733</c:v>
                </c:pt>
                <c:pt idx="7">
                  <c:v>210185</c:v>
                </c:pt>
                <c:pt idx="8">
                  <c:v>273069</c:v>
                </c:pt>
                <c:pt idx="9">
                  <c:v>174036</c:v>
                </c:pt>
                <c:pt idx="10">
                  <c:v>148912</c:v>
                </c:pt>
                <c:pt idx="11">
                  <c:v>174261</c:v>
                </c:pt>
                <c:pt idx="12">
                  <c:v>198445</c:v>
                </c:pt>
                <c:pt idx="13">
                  <c:v>194865</c:v>
                </c:pt>
                <c:pt idx="14">
                  <c:v>198474</c:v>
                </c:pt>
                <c:pt idx="15">
                  <c:v>250140</c:v>
                </c:pt>
                <c:pt idx="16">
                  <c:v>355307</c:v>
                </c:pt>
                <c:pt idx="17">
                  <c:v>404857</c:v>
                </c:pt>
                <c:pt idx="18">
                  <c:v>313230</c:v>
                </c:pt>
                <c:pt idx="19">
                  <c:v>217287</c:v>
                </c:pt>
                <c:pt idx="20">
                  <c:v>151787</c:v>
                </c:pt>
                <c:pt idx="21">
                  <c:v>117895</c:v>
                </c:pt>
                <c:pt idx="22">
                  <c:v>85131</c:v>
                </c:pt>
                <c:pt idx="23">
                  <c:v>52804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 Rider</c:v>
                </c:pt>
              </c:strCache>
            </c:strRef>
          </c:tx>
          <c:spPr>
            <a:solidFill>
              <a:srgbClr val="F4A261"/>
            </a:solidFill>
            <a:ln w="38100" cap="flat">
              <a:solidFill>
                <a:srgbClr val="F4A2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0h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41378</c:v>
                </c:pt>
                <c:pt idx="1">
                  <c:v>26684</c:v>
                </c:pt>
                <c:pt idx="2">
                  <c:v>17707</c:v>
                </c:pt>
                <c:pt idx="3">
                  <c:v>9811</c:v>
                </c:pt>
                <c:pt idx="4">
                  <c:v>7781</c:v>
                </c:pt>
                <c:pt idx="5">
                  <c:v>12271</c:v>
                </c:pt>
                <c:pt idx="6">
                  <c:v>27720</c:v>
                </c:pt>
                <c:pt idx="7">
                  <c:v>51372</c:v>
                </c:pt>
                <c:pt idx="8">
                  <c:v>73940</c:v>
                </c:pt>
                <c:pt idx="9">
                  <c:v>72983</c:v>
                </c:pt>
                <c:pt idx="10">
                  <c:v>88097</c:v>
                </c:pt>
                <c:pt idx="11">
                  <c:v>112327</c:v>
                </c:pt>
                <c:pt idx="12">
                  <c:v>133327</c:v>
                </c:pt>
                <c:pt idx="13">
                  <c:v>137942</c:v>
                </c:pt>
                <c:pt idx="14">
                  <c:v>145428</c:v>
                </c:pt>
                <c:pt idx="15">
                  <c:v>161488</c:v>
                </c:pt>
                <c:pt idx="16">
                  <c:v>185315</c:v>
                </c:pt>
                <c:pt idx="17">
                  <c:v>200633</c:v>
                </c:pt>
                <c:pt idx="18">
                  <c:v>171681</c:v>
                </c:pt>
                <c:pt idx="19">
                  <c:v>129199</c:v>
                </c:pt>
                <c:pt idx="20">
                  <c:v>93759</c:v>
                </c:pt>
                <c:pt idx="21">
                  <c:v>79568</c:v>
                </c:pt>
                <c:pt idx="22">
                  <c:v>67246</c:v>
                </c:pt>
                <c:pt idx="23">
                  <c:v>47790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Ride Volume (Jun 2025 - May 2026)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Member</c:v>
                </c:pt>
              </c:strCache>
            </c:strRef>
          </c:tx>
          <c:spPr>
            <a:solidFill>
              <a:srgbClr val="0E7C7B"/>
            </a:solidFill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Jun '25</c:v>
                  </c:pt>
                  <c:pt idx="1">
                    <c:v>Jul '25</c:v>
                  </c:pt>
                  <c:pt idx="2">
                    <c:v>Aug '25</c:v>
                  </c:pt>
                  <c:pt idx="3">
                    <c:v>Sep '25</c:v>
                  </c:pt>
                  <c:pt idx="4">
                    <c:v>Oct '25</c:v>
                  </c:pt>
                  <c:pt idx="5">
                    <c:v>Nov '25</c:v>
                  </c:pt>
                  <c:pt idx="6">
                    <c:v>Dec '25</c:v>
                  </c:pt>
                  <c:pt idx="7">
                    <c:v>Jan '26</c:v>
                  </c:pt>
                  <c:pt idx="8">
                    <c:v>Feb '26</c:v>
                  </c:pt>
                  <c:pt idx="9">
                    <c:v>Mar '26</c:v>
                  </c:pt>
                  <c:pt idx="10">
                    <c:v>Apr '26</c:v>
                  </c:pt>
                  <c:pt idx="11">
                    <c:v>May '26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386709</c:v>
                </c:pt>
                <c:pt idx="1">
                  <c:v>439965</c:v>
                </c:pt>
                <c:pt idx="2">
                  <c:v>452355</c:v>
                </c:pt>
                <c:pt idx="3">
                  <c:v>449202</c:v>
                </c:pt>
                <c:pt idx="4">
                  <c:v>421921</c:v>
                </c:pt>
                <c:pt idx="5">
                  <c:v>257292</c:v>
                </c:pt>
                <c:pt idx="6">
                  <c:v>112415</c:v>
                </c:pt>
                <c:pt idx="7">
                  <c:v>112933</c:v>
                </c:pt>
                <c:pt idx="8">
                  <c:v>160251</c:v>
                </c:pt>
                <c:pt idx="9">
                  <c:v>229121</c:v>
                </c:pt>
                <c:pt idx="10">
                  <c:v>316695</c:v>
                </c:pt>
                <c:pt idx="11">
                  <c:v>408484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 Rider</c:v>
                </c:pt>
              </c:strCache>
            </c:strRef>
          </c:tx>
          <c:spPr>
            <a:solidFill>
              <a:srgbClr val="F4A261"/>
            </a:solidFill>
            <a:ln w="38100" cap="flat">
              <a:solidFill>
                <a:srgbClr val="F4A2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Jun '25</c:v>
                  </c:pt>
                  <c:pt idx="1">
                    <c:v>Jul '25</c:v>
                  </c:pt>
                  <c:pt idx="2">
                    <c:v>Aug '25</c:v>
                  </c:pt>
                  <c:pt idx="3">
                    <c:v>Sep '25</c:v>
                  </c:pt>
                  <c:pt idx="4">
                    <c:v>Oct '25</c:v>
                  </c:pt>
                  <c:pt idx="5">
                    <c:v>Nov '25</c:v>
                  </c:pt>
                  <c:pt idx="6">
                    <c:v>Dec '25</c:v>
                  </c:pt>
                  <c:pt idx="7">
                    <c:v>Jan '26</c:v>
                  </c:pt>
                  <c:pt idx="8">
                    <c:v>Feb '26</c:v>
                  </c:pt>
                  <c:pt idx="9">
                    <c:v>Mar '26</c:v>
                  </c:pt>
                  <c:pt idx="10">
                    <c:v>Apr '26</c:v>
                  </c:pt>
                  <c:pt idx="11">
                    <c:v>May '26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291138</c:v>
                </c:pt>
                <c:pt idx="1">
                  <c:v>322505</c:v>
                </c:pt>
                <c:pt idx="2">
                  <c:v>337246</c:v>
                </c:pt>
                <c:pt idx="3">
                  <c:v>264772</c:v>
                </c:pt>
                <c:pt idx="4">
                  <c:v>223569</c:v>
                </c:pt>
                <c:pt idx="5">
                  <c:v>98871</c:v>
                </c:pt>
                <c:pt idx="6">
                  <c:v>28005</c:v>
                </c:pt>
                <c:pt idx="7">
                  <c:v>24656</c:v>
                </c:pt>
                <c:pt idx="8">
                  <c:v>41088</c:v>
                </c:pt>
                <c:pt idx="9">
                  <c:v>87631</c:v>
                </c:pt>
                <c:pt idx="10">
                  <c:v>131231</c:v>
                </c:pt>
                <c:pt idx="11">
                  <c:v>244619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22960"/>
            <a:ext cx="1280160" cy="1280160"/>
          </a:xfrm>
          <a:prstGeom prst="ellipse">
            <a:avLst/>
          </a:prstGeom>
          <a:solidFill>
            <a:srgbClr val="0A252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</a:rPr>
              <a:t>CYCLISTIC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788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A7D5D4"/>
                </a:solidFill>
              </a:rPr>
              <a:t>BIKE-SHARE ANALYSIS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40280" y="338328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114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D5D4"/>
                </a:solidFill>
              </a:rPr>
              <a:t>Jan 2025 - May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5720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5,842,831 rides analyzed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6217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5D4"/>
                </a:solidFill>
              </a:rPr>
              <a:t>Author: Sahan K.  |  Google DA Capstone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94960" y="914400"/>
            <a:ext cx="63093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How Do Annual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Members &amp; Casual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Riders Use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Cyclistic Bikes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Differently?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394960" y="493776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 full-year behavioral analysis to inform Cyclistic's membership conversion strategy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7B"/>
                </a:solidFill>
              </a:rPr>
              <a:t>THE BUSINESS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Why this analysis matters to Cyclistic's future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E6F4F4"/>
          </a:solidFill>
          <a:ln w="12700">
            <a:solidFill>
              <a:srgbClr val="C8E6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651760" cy="137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D3C"/>
                </a:solidFill>
              </a:rPr>
              <a:t>The Finding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468880"/>
            <a:ext cx="243230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Finance confirmed: Annual members are significantly MORE PROFITABLE than casual riders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E6F4F4"/>
          </a:solidFill>
          <a:ln w="12700">
            <a:solidFill>
              <a:srgbClr val="C8E6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554480"/>
            <a:ext cx="2651760" cy="137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D3C"/>
                </a:solidFill>
              </a:rPr>
              <a:t>The Goal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55848" y="2468880"/>
            <a:ext cx="243230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Convert existing casual riders who already use the product into annual members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E6F4F4"/>
          </a:solidFill>
          <a:ln w="12700">
            <a:solidFill>
              <a:srgbClr val="C8E6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554480"/>
            <a:ext cx="2651760" cy="137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D3C"/>
                </a:solidFill>
              </a:rPr>
              <a:t>The Question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44768" y="2468880"/>
            <a:ext cx="243230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How do members and casuals actually use the bikes differently? That gap IS the strategy.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23960" y="155448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E6F4F4"/>
          </a:solidFill>
          <a:ln w="12700">
            <a:solidFill>
              <a:srgbClr val="C8E6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23960" y="1554480"/>
            <a:ext cx="2651760" cy="137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33688" y="182880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3D3C"/>
                </a:solidFill>
              </a:rPr>
              <a:t>The Stakes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33688" y="2468880"/>
            <a:ext cx="243230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35.9% of rides are casual — a massive addressable audience already in the funnel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Source: Motivate International Inc. (Divvy)  |  Public License  |  Jan 2025 -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7B"/>
                </a:solidFill>
              </a:rPr>
              <a:t>THE NUMBERS AT A GLANCE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5,842,831 rides. Two very different user profiles.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2743200" cy="1645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E7C7B"/>
                </a:solidFill>
              </a:rPr>
              <a:t>64.1%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Annual Members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3,747,384 rides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463040"/>
            <a:ext cx="2743200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A261"/>
                </a:solidFill>
              </a:rPr>
              <a:t>35.9%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56616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Casual Riders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2,095,447 rides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46304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1463040"/>
            <a:ext cx="2743200" cy="16459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21B6"/>
                </a:solidFill>
              </a:rPr>
              <a:t>+56%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67512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Casual Ride Duration Gap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18.9 min vs 12.1 min avg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0" y="146304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0" y="1463040"/>
            <a:ext cx="2743200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C2626"/>
                </a:solidFill>
              </a:rPr>
              <a:t>-93%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923544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Casual Winter Drop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Aug to Jan decline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DATA: Motivate/Divvy Jan 2025-May 2026  |  5,872 invalid rides removed (0.1% of total)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7B"/>
                </a:solidFill>
              </a:rPr>
              <a:t>FINDING 1 + 2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Members are commuters. Casuals are weekenders.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28016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E8F5F5"/>
          </a:solidFill>
          <a:ln w="12700">
            <a:solidFill>
              <a:srgbClr val="C8E6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83880" y="13716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3D3C"/>
                </a:solidFill>
              </a:rPr>
              <a:t>MEMBERS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183880" y="171907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Peak Tue-Thu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Classic commuter pattern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46720" y="288036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 w="12700">
            <a:solidFill>
              <a:srgbClr val="FFD6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83880" y="29718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3D3C"/>
                </a:solidFill>
              </a:rPr>
              <a:t>CASUALS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183880" y="331927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Peak Saturday (431,737)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48% of all Saturday rides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448056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83880" y="4572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3D3C"/>
                </a:solidFill>
              </a:rPr>
              <a:t>INSIGHT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183880" y="491947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Opposite behavioral signatures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One product, two user stories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Avg ride duration diverges further on weekends: casuals 21.9 min (Sun) vs members 13.2 min. Weekday member rides average just 11.6 min — efficient commutes.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7B"/>
                </a:solidFill>
              </a:rPr>
              <a:t>FINDING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Members have a commuter demand curve. Casuals don't.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772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28016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8AM RUSH: MEMBERS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49640" y="181051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273,069 member rides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No equivalent casual spike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412480" y="283464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4964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5PM PEAK: BOTH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49640" y="336499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Members: 404,857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Casuals: 200,633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12480" y="438912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5B21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4964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</a:rPr>
              <a:t>CASUAL PATTERN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49640" y="491947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Slow build from noon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No morning rush hour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7B"/>
                </a:solidFill>
              </a:rPr>
              <a:t>FINDING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Casuals are highly seasonal. Spring is the conversion window.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772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280160"/>
            <a:ext cx="3291840" cy="1965960"/>
          </a:xfrm>
          <a:prstGeom prst="roundRect">
            <a:avLst>
              <a:gd name="adj" fmla="val 4651"/>
            </a:avLst>
          </a:prstGeom>
          <a:solidFill>
            <a:srgbClr val="FFF8F0"/>
          </a:solidFill>
          <a:ln w="12700">
            <a:solidFill>
              <a:srgbClr val="FFD6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3716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</a:rPr>
              <a:t>SEASONAL DROP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49640" y="1783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Casual: -92.7%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(Aug 337k to Jan 25k)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49640" y="2286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Member: -75.0%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(Aug 452k to Jan 113k)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12480" y="3429000"/>
            <a:ext cx="3291840" cy="2240280"/>
          </a:xfrm>
          <a:prstGeom prst="roundRect">
            <a:avLst>
              <a:gd name="adj" fmla="val 4082"/>
            </a:avLst>
          </a:prstGeom>
          <a:solidFill>
            <a:srgbClr val="E6F4F4"/>
          </a:solidFill>
          <a:ln w="12700">
            <a:solidFill>
              <a:srgbClr val="C8E6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49640" y="3520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3D3C"/>
                </a:solidFill>
              </a:rPr>
              <a:t>CONVERSION WINDOW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49640" y="39776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Apr-Jun: Casuals return after winter. Highest receptivity for membership offers — they are actively re-engaging with the product.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7B"/>
                </a:solidFill>
              </a:rPr>
              <a:t>FINDING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They ride from completely different places.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FFF8F0"/>
          </a:solidFill>
          <a:ln w="12700">
            <a:solidFill>
              <a:srgbClr val="FFD6A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</a:rPr>
              <a:t>TOP CASUAL STATIONS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Leisure  |  Tourist  |  Lakefront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5212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957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39572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Navy Pier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239572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38,837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79776"/>
            <a:ext cx="5212080" cy="402336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2549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82549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DuSable Lake Shore Dr &amp; Monroe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282549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32,793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09544"/>
            <a:ext cx="5212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5526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25526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Michigan Ave &amp; Oak 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325526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23,181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39312"/>
            <a:ext cx="5212080" cy="402336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8503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6850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DuSable Lake Shore Dr &amp; North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34840" y="36850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20,246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5212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11480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411480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Millennium Park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411480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19,036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498848"/>
            <a:ext cx="5212080" cy="402336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54456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45445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Shedd Aquarium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34840" y="45445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17,148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928616"/>
            <a:ext cx="5212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97433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49743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Theater on the Lake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34840" y="497433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16,469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137160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E6F4F4"/>
          </a:solidFill>
          <a:ln w="12700">
            <a:solidFill>
              <a:srgbClr val="C8E6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379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3D3C"/>
                </a:solidFill>
              </a:rPr>
              <a:t>TOP MEMBER STATIONS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37960" y="20116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Commuter  |  Transit Hub  |  Downtown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2350008"/>
            <a:ext cx="5212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23957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9440" y="239572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Canal St &amp; Madison 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378440" y="239572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22,514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2779776"/>
            <a:ext cx="5212080" cy="402336"/>
          </a:xfrm>
          <a:prstGeom prst="rect">
            <a:avLst/>
          </a:prstGeom>
          <a:solidFill>
            <a:srgbClr val="E8F5F5"/>
          </a:solidFill>
          <a:ln w="12700">
            <a:solidFill>
              <a:srgbClr val="E8F5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282549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49440" y="282549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Clinton St &amp; Washington Blvd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378440" y="282549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20,861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92240" y="3209544"/>
            <a:ext cx="5212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255264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49440" y="325526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State St &amp; Chicago Ave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378440" y="32552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20,619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92240" y="3639312"/>
            <a:ext cx="5212080" cy="402336"/>
          </a:xfrm>
          <a:prstGeom prst="rect">
            <a:avLst/>
          </a:prstGeom>
          <a:solidFill>
            <a:srgbClr val="E8F5F5"/>
          </a:solidFill>
          <a:ln w="12700">
            <a:solidFill>
              <a:srgbClr val="E8F5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368503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9440" y="36850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Clinton St &amp; Madison St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378440" y="36850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20,437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92240" y="4069080"/>
            <a:ext cx="5212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37960" y="411480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49440" y="411480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Kingsbury St &amp; Kinzie St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378440" y="41148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20,363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92240" y="4498848"/>
            <a:ext cx="5212080" cy="402336"/>
          </a:xfrm>
          <a:prstGeom prst="rect">
            <a:avLst/>
          </a:prstGeom>
          <a:solidFill>
            <a:srgbClr val="E8F5F5"/>
          </a:solidFill>
          <a:ln w="12700">
            <a:solidFill>
              <a:srgbClr val="E8F5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454456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6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949440" y="45445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Wells St &amp; Elm St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378440" y="454456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19,452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492240" y="4928616"/>
            <a:ext cx="5212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37960" y="4974336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7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949440" y="49743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Wells St &amp; Concord Ln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378440" y="497433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19,198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Zero overlap between top-10 casual stations and top-10 member stations. These riders occupy different parts of the city.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7B"/>
                </a:solidFill>
              </a:rPr>
              <a:t>THE FULL PICTURE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Two user types. One product. Very different behaviors.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Dimension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74320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Annual Members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274320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Casual Riders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418320" y="1371600"/>
            <a:ext cx="246888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Gap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920240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920240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0" y="1920240"/>
            <a:ext cx="2468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0116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D3C"/>
                </a:solidFill>
              </a:rPr>
              <a:t>Ride Duration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0116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12.1 min avg (8.6 median)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0116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18.9 min avg (11.2 median)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09760" y="20116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Casuals +56% longer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615184"/>
            <a:ext cx="274320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615184"/>
            <a:ext cx="274320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615184"/>
            <a:ext cx="274320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0" y="2615184"/>
            <a:ext cx="246888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7066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D3C"/>
                </a:solidFill>
              </a:rPr>
              <a:t>Day-of-Week Peak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27066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Tuesday - Thursday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7066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Friday - Sunday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09760" y="270662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Opposite patterns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10128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3310128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310128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18320" y="3310128"/>
            <a:ext cx="2468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4015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D3C"/>
                </a:solidFill>
              </a:rPr>
              <a:t>Time of Day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0" y="34015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8am + 5pm double peaks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34015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Gradual afternoon build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09760" y="340156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Commute vs leisure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005072"/>
            <a:ext cx="274320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3280" y="4005072"/>
            <a:ext cx="274320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4005072"/>
            <a:ext cx="274320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18320" y="4005072"/>
            <a:ext cx="246888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09651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D3C"/>
                </a:solidFill>
              </a:rPr>
              <a:t>Seasonal Volatility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74720" y="409651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75% summer-to-winter drop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409651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92.7% summer-to-winter drop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509760" y="40965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Casuals far more seasonal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700016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0" y="4700016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4700016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8320" y="4700016"/>
            <a:ext cx="2468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79145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D3C"/>
                </a:solidFill>
              </a:rPr>
              <a:t>Station Geography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474720" y="479145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Canal/Clinton (transit hubs)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479145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Navy Pier / Millennium Pk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509760" y="47914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Zero station overlap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5394960"/>
            <a:ext cx="274320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83280" y="5394960"/>
            <a:ext cx="274320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0" y="5394960"/>
            <a:ext cx="274320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18320" y="5394960"/>
            <a:ext cx="246888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54864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3D3C"/>
                </a:solidFill>
              </a:rPr>
              <a:t>Bike Preference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474720" y="54864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65.8% electric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92240" y="54864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68.7% electric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509760" y="54864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</a:rPr>
              <a:t>Casuals slightly more electric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D5D4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Three data-backed actions to convert casual riders into members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0D1F1E"/>
          </a:solidFill>
          <a:ln w="254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1234440"/>
            <a:ext cx="822960" cy="8229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Weekend Warrior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Membership Tier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Casuals dominate Saturdays (431K rides, 48% share). A weekend-only membership priced between a day pass and full annual directly matches their behavior. Promote at Navy Pier, Millennium Park, Lake Shore Dr.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562356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A5E5D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669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Target: 1.1M weekend casual rides/yr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0D1F1E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1234440"/>
            <a:ext cx="822960" cy="8229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2194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Spring Conversion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</a:rPr>
              <a:t>Campaign (Apr-Jun)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15468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Casual ridership rebounds 900%+ from Jan to Aug. Spring re-entry is peak receptivity. Trigger a limited-time offer after a casual rider's 3rd ride of the season — they have already recommitted to riding.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562356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9C602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5669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Window: April - June  |  Max intent period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21040" y="1417320"/>
            <a:ext cx="3657600" cy="5029200"/>
          </a:xfrm>
          <a:prstGeom prst="roundRect">
            <a:avLst>
              <a:gd name="adj" fmla="val 3750"/>
            </a:avLst>
          </a:prstGeom>
          <a:solidFill>
            <a:srgbClr val="0D1F1E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38360" y="1234440"/>
            <a:ext cx="822960" cy="8229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58200" y="21945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In-App Cost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Breakdown Feature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315468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Show each casual rider: You spent $X on passes. A membership would save you $Z. Casuals ride 56% longer per trip — higher cost per use on single passes. Make the math personal after ride 5.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562356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4C3A8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5669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Channel: In-app push after 5th casual ride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E7C7B">
              <a:alpha val="15000"/>
            </a:srgbClr>
          </a:solidFill>
          <a:ln w="12700">
            <a:solidFill>
              <a:srgbClr val="0E7C7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5029200"/>
            <a:ext cx="2743200" cy="274320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09728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7D5D4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data tells us who to target,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when to reach them, and what to say.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0D1F1E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310128"/>
            <a:ext cx="4297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Present findings to Lily Moreno — request campaign brief approval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320040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0D1F1E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347472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3310128"/>
            <a:ext cx="4297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Build Weekend Warrior tier pricing model with finance team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0D1F1E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84632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681728"/>
            <a:ext cx="4297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Scope in-app cost breakdown feature with engineering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57200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0D1F1E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84632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4681728"/>
            <a:ext cx="4297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Design spring 2027 campaign targeting April re-entry period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Analysis by Sahan K.  |  Google Data Analytics Capstone  |  Data: Motivate/Divvy Jan 2025-May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Bike-Share Analysis</dc:title>
  <dc:subject>PptxGenJS Presentation</dc:subject>
  <dc:creator>Sahan K.</dc:creator>
  <cp:lastModifiedBy>Sahan K.</cp:lastModifiedBy>
  <cp:revision>1</cp:revision>
  <dcterms:created xsi:type="dcterms:W3CDTF">2026-06-25T08:50:08Z</dcterms:created>
  <dcterms:modified xsi:type="dcterms:W3CDTF">2026-06-25T08:50:08Z</dcterms:modified>
</cp:coreProperties>
</file>